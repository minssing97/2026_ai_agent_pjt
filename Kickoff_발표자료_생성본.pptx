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2026 AI AGENT 융합·확산 지원사업</a:t>
            </a:r>
          </a:p>
          <a:p>
            <a:r>
              <a:t>Kick-off 미팅 자료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수행계획서 작성 R&amp;R 및 핵심 차별화 전략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Ⅰ. 사업 개요 (Project Overview &amp; Master Plan)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과제명 및 기간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과제명: 발전소 플랜트 무결점(Zero-Defect) 설계를 위한 다중 도면 교차 검증 AI 에이전트 전면 실증</a:t>
            </a:r>
          </a:p>
          <a:p>
            <a:pPr/>
            <a:r>
              <a:t>총 과제기간: 협약체결일 ~ 2027. 11. 30. (24개월)</a:t>
            </a:r>
          </a:p>
          <a:p>
            <a:pPr/>
            <a:r>
              <a:t>컨소시엄 지배구조(Governance):</a:t>
            </a:r>
          </a:p>
          <a:p>
            <a:pPr lvl="1"/>
            <a:r>
              <a:t>[총괄/주관] (주)알파에듀 (60%): Two-track 아키텍처 총괄 및 Vision OCR/데이터 파이프라인 구축.</a:t>
            </a:r>
          </a:p>
          <a:p>
            <a:pPr lvl="1"/>
            <a:r>
              <a:t>[연구/참여] 경남대학교 (30%): 도메인 기반 추론(Reasoner) 알고리즘 및 오픈소스 LLM 파인튜닝 로직 설계.</a:t>
            </a:r>
          </a:p>
          <a:p>
            <a:pPr lvl="1"/>
            <a:r>
              <a:t>[실증/수요] 성화산업 (10%): 제1, 2공장 P&amp;ID 및 Spool 설계 도면 1만 장(Ground Truth) 제공 및 현장 테스트베드(PoC) 적용.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추진 배경 및 필요성 (Why Now?)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Industry Pain Point: 현재 발전소 및 대형 플랜트의 설계 품질 검사(QA/QC)는 전적으로 10~20년 차 시니어 엔지니어의 수작업 육안 대조(Human-Eye Inspection)에 의존. 이는 치명적 인적 오류(Human Error) 수반 및 극심한 리드타임 병목을 초래함.</a:t>
            </a:r>
          </a:p>
          <a:p>
            <a:pPr/>
            <a:r>
              <a:t>Macroscopic Need: 최근 체코 원전 수주 등 K-플랜트 수출 호조기에 진입했으나, 국내 시니어 설계 인력은 급격히 고령화 및 고갈 시점에 도달. 사람을 대체할 'Human-Level'의 엔지니어링 전문 AI 검토관 도입이 국가 산업 경쟁력과 직결됨.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사업 범위 (Project Scope)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Data: 성화산업의 실제 시공 데이터 기반 10,000건 이상의 정답셋(Ground Truth) 및 엔지니어링 Rule-set 구축.</a:t>
            </a:r>
          </a:p>
          <a:p>
            <a:pPr/>
            <a:r>
              <a:t>AI Core: 발전소 배관 설계 규격(ASME B31.1, KEPIC 등)을 온전히 이해하고, 1mm의 허차 판별이 가능한 특화 파인튜닝 LLM 인프라 온프레미스(On-premise) 구축.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Ⅱ. 산업동향 및 현황 분석 (Market &amp; Technology Landscape)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국내․외 산업 동향 파악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글로벌 EPC 산업은 디지털 트윈, 3D BIM(Navisworks 등)을 도입하여 물리적 간섭(Clash)을 1차원적으로 점검하고 있으나, 정작 그 기초가 되는 2D 종이/PDF 도면 상의 '논리적/기하학적 모순'을 자동 검증하는 시장은 여전히 블루오션(Blue Ocean)임.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관련분야 기술개발 및 제품·서비스 현황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기존의 Rule-based(정규식) 문자 추출(OCR) 솔루션은 도면의 레이아웃이 미세하게 변경되거나 리더선(Leader Line)이 겹치면 인식률이 붕괴되는 치명적 한계를 지님.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과제 수행의 제약요인 (Critical Constraints)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보안의 절대성: 국가기반시설(발전/원자력) 도면은 클라우드 외부 반출이 원천 차단됨. 따라서 GPT-4, Claude와 같은 상용 API 결합 모델은 사업 현장에 도입조차 불가함.</a:t>
            </a:r>
          </a:p>
          <a:p>
            <a:pPr/>
            <a:r>
              <a:t>환각(Hallucination) 리스크: 범용 LLM은 도면 내의 'Phantom Grid(가상의 선)'나 복잡한 P&amp;ID 기호를 잘못 해석하여 심각한 설계 오류를 양산할 위험성이 존재.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시사점 및 당위성 (Our USP)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"보안 프라이버시(On-premise)와 도메인 특화 성능(Fine-tuning)을 동시에 잡는 유일한 대안은 오픈소스 파운데이션 모델(Qwen, Llama 등) 기반의 자체 경량화 AI 에이전트(sLLM) 구축뿐이다." (본 과제의 핵심 당위성)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기대효과 (Impact)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경제적 가치: 설계 오류 누락으로 인한 재작업(Rework) 비용 연간 20% 절감, 도면 검토 리드타임 50% 단축.</a:t>
            </a:r>
          </a:p>
          <a:p>
            <a:pPr/>
            <a:r>
              <a:t>사회적 가치: AI 융합 신산업 분야의 프롬프트 엔지니어 및 비전 AI 개발자 최소 7명 이상 고급 일자리 창출 보장.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Ⅲ. 추진 목표 및 전략 (Objective &amp; Strategy)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최종 목표 (SMART Goal)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단순 문자 추출을 뛰어넘어, 다중 도면(P&amp;ID ↔ Location Plan ↔ Spool) 사이의 상관관계를 다차원적으로 교차 추론하는 도메인 맞춤형 검증 AI 에이전트 구현.</a:t>
            </a:r>
          </a:p>
          <a:p>
            <a:pPr/>
            <a:r>
              <a:t>정량적 목표: 2026년 검증 정확도 85% 달성 → 2027년 모델 최적화 95% 이상 달성 (Zero False Positive 실현).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추진 방향 및 전략 (Strategic Approach)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Two-Track Hybrid 아키텍처:</a:t>
            </a:r>
          </a:p>
          <a:p>
            <a:pPr lvl="1"/>
            <a:r>
              <a:t>1) Vision Module (알파에듀): LayoutLM/Donut 기반 공간 기하학적 객체(표, 선, 텍스트) 정형화 엔진.</a:t>
            </a:r>
          </a:p>
          <a:p>
            <a:pPr lvl="1"/>
            <a:r>
              <a:t>2) Reasoner Module (경남대): 추출된 JSON 데이터를 토대로 엔지니어링 룰셋(Rule-set)을 가동하여 모순점을 연역 추론하는 LLM 로직.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추진 절차 및 추진체계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`데이터 전처리(비식별화)` → `프롬프트 쌍(Pair) 데이터 전환(Instruction Tuning)` → `AI 학습 및 양자화(vLLM 가속)` → `Blind Test 교차 검증 (Agile Loop)` → `성화산업 현장 전면 배포`.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컨소시엄별 역할 및 역량 (Synergy Matrix)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알파에듀(Tech-Lead): AI 상용화 노하우를 바탕으로 한 시스템 인테그레이션(SI) 수월성 및 서버/장비 인프라 조달 능력.</a:t>
            </a:r>
          </a:p>
          <a:p>
            <a:pPr/>
            <a:r>
              <a:t>경남대학교(R&amp;D-Lead): 알고리즘 특허 및 논문 성과 기반의 수준 높은 LLM 심층 추론 트리(Reflection Tree) 설계 파워.</a:t>
            </a:r>
          </a:p>
          <a:p>
            <a:pPr/>
            <a:r>
              <a:t>성화산업(Domain-Lead): 최전선 플랜트 현장의 살아 숨쉬는 P&amp;ID 판별 지식과 허용 오차(Tolerance) 가이드라인(Ground Truth) 즉각 공급 역량.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Ⅳ. 세부 추진계획 (Execution Plan)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목표 서비스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사용자가 도면 번호 뭉치를 입력하면, AI 에이전트가 ① 도면 간 Item No. 1:1 매칭 누락 확인, ② X/Y축 Grid 정합성 검증, ③ 배관 총 길이(End-to-end) 치수 합산 오류를 동시다발적으로 분석하여 심각도(Critical/Major)별 대시보드 리포트를 반환함.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세부 과제내용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엔지니어링 지식을 이식하기 위한 Instruction-Tuning 파이프라인 설계.</a:t>
            </a:r>
          </a:p>
          <a:p>
            <a:pPr/>
            <a:r>
              <a:t>방대한 B31.1 플랜트 규격서 및 ISO 스펙을 환각 없이 참조 가능하도록 Vector DB 기반 RAG(검색 증강 생성) 모듈 연계 개발.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시설 및 기자재 구축 (Infrastructure Justification)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초거대 AI의 파인튜닝과 추론(Inference) 속도를 50% 단축하기 위해 필수불가결한 고성능 다중 GPU 워크스테이션(연구기자재비 예산) 확보 근거 마련.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성능 확보 및 일자리 창출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성능: TTA(한국정보통신기술협회) 등 제3자 공인인증기관 파트너십을 통한 과업 성공률 90%, 응답 일관성 90% 정량 인증서 확보.</a:t>
            </a:r>
          </a:p>
          <a:p>
            <a:pPr/>
            <a:r>
              <a:t>상생: 지역 대학(경남대) 중심의 연구 인력 배출 및 스타트업 고용 창출(7명 이상)의 선순환 생태계(Eco-system) 확립.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결과 활용 및 파급 효과 (Scalability &amp; TAM-SAM-SOM)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본 AI 검증 엔진은 '발전소 배관' 도면에만 국한되지 않음. 모델의 프롬프트 룰셋 교체만으로 조선/해양 플랜트, 반도체 공조 설계(HVAC), 아파트 건축 도면(CAD) 검증 SaaS 솔루션으로 무한 확장이 가능한 메가 비즈니스 모델(BM) 보유.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Ⅴ. 사업 관리계획 (Project Management)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산출물 내역 및 보고 체계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엔지니어링 프롬프트 명세서, AI 파인튜닝 데이터셋(10,000 Set), 모델 검증 리포트, 소스코드 및 취약점 점검 보고서 완비. Jira 기반 형상 관리 및 주간/월간 마일스톤 철저 점검.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과제 추진일정 (제안서 작성 10일 집중 마일스톤)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3/17~18: Ⅰ~Ⅱ장 세부 논리 보강 (기획/시장 분석)</a:t>
            </a:r>
          </a:p>
          <a:p>
            <a:pPr/>
            <a:r>
              <a:t>3/19~20: Ⅲ~Ⅳ장 딥다이빙 (기술 아키텍처 및 실증 시나리오 완성)</a:t>
            </a:r>
          </a:p>
          <a:p>
            <a:pPr/>
            <a:r>
              <a:t>3/21~23: Ⅴ, Ⅵ, Ⅶ장 원보이스 통합</a:t>
            </a:r>
          </a:p>
          <a:p>
            <a:pPr/>
            <a:r>
              <a:t>3/24~25: Ⅷ장 예산 정산 기준(6:3:1) 시뮬레이션 및 재무 무결점 검수 (필수 증빙서류 100% 취합 달성)</a:t>
            </a:r>
          </a:p>
          <a:p>
            <a:pPr/>
            <a:r>
              <a:t>3/27 (최종안 확정 및 전산 제출 완수)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Ⅵ. 기관별 수행 상세내역 (R&amp;R &amp; Budget Balancing)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주관기관 [ (주)알파에듀 / 60% 배정 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외부 제3자 데이터 가공(어노테이션) 용역 리딩, Vision OCR 개발 연구 인건비, 딥러닝 서버 인프라(유형 자산) 투자 집중 편성 구역. 과제 총괄 재무 리스크 관리.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참여기관 [ 경남대학교 (30%) &amp; 성화산업 (10%) 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경남대: 추론 알고리즘 논문 연구 수당 및 학부/석사 학생 인건비(고용 매칭) 위주 집행을 통한 예산 컴플라이언스(대학 간접비 규정) 완전 준수.</a:t>
            </a:r>
          </a:p>
          <a:p>
            <a:pPr/>
            <a:r>
              <a:t>성화산업: AI 에이전트 성능의 절대 기준(Ground Truth)을 제시할 현장 시니어 엔지니어 인건비 현물 출자. 이를 통한 완벽한 민간 매칭 펀드 구성 증명 달성.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